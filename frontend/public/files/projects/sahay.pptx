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13131"/>
    <a:srgbClr val="F8F8F8"/>
    <a:srgbClr val="F0F0F0"/>
    <a:srgbClr val="70A3E8"/>
    <a:srgbClr val="FFCCFF"/>
    <a:srgbClr val="CC99FF"/>
    <a:srgbClr val="9BBB59"/>
    <a:srgbClr val="39B0D4"/>
    <a:srgbClr val="727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9C2A9-2561-4757-9E45-5DFD3C25DAC9}" v="26" dt="2025-09-26T08:08:12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641" autoAdjust="0"/>
  </p:normalViewPr>
  <p:slideViewPr>
    <p:cSldViewPr snapToGrid="0" snapToObjects="1">
      <p:cViewPr varScale="1">
        <p:scale>
          <a:sx n="67" d="100"/>
          <a:sy n="67" d="100"/>
        </p:scale>
        <p:origin x="6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007/s00500-021-05901-6" TargetMode="External"/><Relationship Id="rId5" Type="http://schemas.openxmlformats.org/officeDocument/2006/relationships/hyperlink" Target="https://www.researchgate.net/publication/348885955_Application_of_AI_and_Machine_Learning_in_Waterborne_Disease_Prediction" TargetMode="External"/><Relationship Id="rId4" Type="http://schemas.openxmlformats.org/officeDocument/2006/relationships/hyperlink" Target="https://www.cdc.gov/healthy-water-data/about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01937" y="207696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16965" y="1099597"/>
            <a:ext cx="8534400" cy="770900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SAHAY: Smart Aqua Health Alert Yantra 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299873"/>
            <a:ext cx="10363200" cy="93556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5050" y="1535311"/>
            <a:ext cx="5942867" cy="5230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25001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Community Health Monitoring and Early Warning System for Water-Borne Diseases in Rural Northeast India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MedTech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HealthTech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917" y="231929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98406" y="450439"/>
            <a:ext cx="7842960" cy="671052"/>
          </a:xfrm>
        </p:spPr>
        <p:txBody>
          <a:bodyPr/>
          <a:lstStyle/>
          <a:p>
            <a:pPr eaLnBrk="1" hangingPunct="1"/>
            <a:r>
              <a:rPr lang="en-US" sz="3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SAHAY: Smart Aqua Health Alert Yantra </a:t>
            </a:r>
            <a:br>
              <a:rPr lang="en-IN" sz="3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0" y="123750"/>
            <a:ext cx="1903376" cy="96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89B92AD-CAE0-60B8-8BF4-7EDEE4415885}"/>
              </a:ext>
            </a:extLst>
          </p:cNvPr>
          <p:cNvSpPr/>
          <p:nvPr/>
        </p:nvSpPr>
        <p:spPr>
          <a:xfrm>
            <a:off x="324619" y="180688"/>
            <a:ext cx="1673787" cy="886949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A88542-1523-1185-A799-00CDCA327302}"/>
              </a:ext>
            </a:extLst>
          </p:cNvPr>
          <p:cNvSpPr/>
          <p:nvPr/>
        </p:nvSpPr>
        <p:spPr>
          <a:xfrm>
            <a:off x="444101" y="1567218"/>
            <a:ext cx="6055360" cy="2895600"/>
          </a:xfrm>
          <a:prstGeom prst="roundRect">
            <a:avLst>
              <a:gd name="adj" fmla="val 16009"/>
            </a:avLst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risk of Water-Borne disease  uses the IOT sensors/Manual Testing Kit to monitor the water quality.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using the AI models predict the risk of disease and the water.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 are sent to the head officials for early detection of contamination and reduce the cause of diseases.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 is been displayed in multilingual and functions in offline mode.</a:t>
            </a:r>
          </a:p>
          <a:p>
            <a:pPr algn="just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519F66-FEEE-DDE6-BCB8-C73DD4FE0F1F}"/>
              </a:ext>
            </a:extLst>
          </p:cNvPr>
          <p:cNvSpPr/>
          <p:nvPr/>
        </p:nvSpPr>
        <p:spPr>
          <a:xfrm>
            <a:off x="406400" y="4671394"/>
            <a:ext cx="6055360" cy="19348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 AND INNOVATION: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the risk of water in colour codes.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interface in multilingual.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and accurate predictions.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97FD91-7182-2F8D-6A90-17F341CD4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999" y="1215075"/>
            <a:ext cx="4673601" cy="532384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EC8DD2-F5A0-0635-448E-3E935229F8CC}"/>
              </a:ext>
            </a:extLst>
          </p:cNvPr>
          <p:cNvSpPr/>
          <p:nvPr/>
        </p:nvSpPr>
        <p:spPr>
          <a:xfrm>
            <a:off x="10994231" y="6215063"/>
            <a:ext cx="700088" cy="2500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" name="Title 17417">
            <a:extLst>
              <a:ext uri="{FF2B5EF4-FFF2-40B4-BE49-F238E27FC236}">
                <a16:creationId xmlns:a16="http://schemas.microsoft.com/office/drawing/2014/main" id="{14D83443-EB91-C433-AA49-83CBEE04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248" y="129813"/>
            <a:ext cx="2524836" cy="658362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23" name="Picture 2" descr="https://www.sih.gov.in/img1/SIH-Logo.png">
            <a:extLst>
              <a:ext uri="{FF2B5EF4-FFF2-40B4-BE49-F238E27FC236}">
                <a16:creationId xmlns:a16="http://schemas.microsoft.com/office/drawing/2014/main" id="{0453783C-CF1B-75BF-CBF2-954C45579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934" y="108031"/>
            <a:ext cx="1295254" cy="68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59FC20-40D1-552C-2BB3-6C246E017952}"/>
              </a:ext>
            </a:extLst>
          </p:cNvPr>
          <p:cNvSpPr/>
          <p:nvPr/>
        </p:nvSpPr>
        <p:spPr>
          <a:xfrm>
            <a:off x="7326412" y="1021080"/>
            <a:ext cx="4680776" cy="5471160"/>
          </a:xfrm>
          <a:prstGeom prst="roundRect">
            <a:avLst>
              <a:gd name="adj" fmla="val 998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1.DATA SOURCES: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Kit: </a:t>
            </a: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strip paper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Sensors: </a:t>
            </a: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pH,Temperature,Turbidity,TDS,Chlorine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Entry: Directly entered.</a:t>
            </a:r>
          </a:p>
          <a:p>
            <a:pPr lvl="0"/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TRANSFER: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kit: </a:t>
            </a: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testing strip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Sensors:   sensor data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cloud</a:t>
            </a:r>
          </a:p>
          <a:p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3.BACKEND PROCESS:</a:t>
            </a: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Preprocessing 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Logics    Data storage</a:t>
            </a:r>
          </a:p>
          <a:p>
            <a:pPr lvl="0"/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AI ALGORITHMS:</a:t>
            </a: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XG Boost Algorithm  Disease prediction.</a:t>
            </a:r>
          </a:p>
          <a:p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5.ALERTS: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risk of the water will be given as an alert to the health officials through </a:t>
            </a: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I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Represention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Danger, Yellow  Caution, Green    Safe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Module:</a:t>
            </a:r>
          </a:p>
          <a:p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General Instruction 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Offline Mode  Multilingual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99400-299A-2D94-0B3F-7208C4435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256053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C5E468-1FAF-12EC-4948-FFDEE76D3810}"/>
              </a:ext>
            </a:extLst>
          </p:cNvPr>
          <p:cNvSpPr/>
          <p:nvPr/>
        </p:nvSpPr>
        <p:spPr>
          <a:xfrm>
            <a:off x="7165642" y="155409"/>
            <a:ext cx="1125373" cy="60717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90750" y="162969"/>
            <a:ext cx="7810500" cy="807334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57097"/>
            <a:ext cx="1992086" cy="101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B3CEC1D-0449-7D41-694B-7A7A7BC966E3}"/>
              </a:ext>
            </a:extLst>
          </p:cNvPr>
          <p:cNvSpPr/>
          <p:nvPr/>
        </p:nvSpPr>
        <p:spPr>
          <a:xfrm>
            <a:off x="438435" y="63292"/>
            <a:ext cx="1695165" cy="1006357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FBDC63-A766-6936-88C0-B79FBC56EEEF}"/>
              </a:ext>
            </a:extLst>
          </p:cNvPr>
          <p:cNvSpPr/>
          <p:nvPr/>
        </p:nvSpPr>
        <p:spPr>
          <a:xfrm>
            <a:off x="438435" y="1351789"/>
            <a:ext cx="6680493" cy="54121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66CED9-FB25-CF6A-177D-CB342D71FB96}"/>
              </a:ext>
            </a:extLst>
          </p:cNvPr>
          <p:cNvSpPr/>
          <p:nvPr/>
        </p:nvSpPr>
        <p:spPr>
          <a:xfrm>
            <a:off x="527957" y="1787670"/>
            <a:ext cx="6321182" cy="155254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b="1" dirty="0"/>
              <a:t>TECHNICAL FEASIBILITY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collected easily from the IOT sensors and manual testing kit.</a:t>
            </a:r>
            <a:endParaRPr lang="en-IN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Fa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and accurate prediction of the disease and the risk of the water using ML model.</a:t>
            </a:r>
          </a:p>
          <a:p>
            <a:pPr algn="ctr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2CD47E-136C-DA9F-5C31-903EB1401DF1}"/>
              </a:ext>
            </a:extLst>
          </p:cNvPr>
          <p:cNvSpPr/>
          <p:nvPr/>
        </p:nvSpPr>
        <p:spPr>
          <a:xfrm>
            <a:off x="582548" y="3517782"/>
            <a:ext cx="6321182" cy="1322757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OPERATIONAL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detect the risk and control the 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are given for the proper usage of water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9E2A24-5A83-FA9E-B13C-C4D51DDBA05C}"/>
              </a:ext>
            </a:extLst>
          </p:cNvPr>
          <p:cNvSpPr/>
          <p:nvPr/>
        </p:nvSpPr>
        <p:spPr>
          <a:xfrm>
            <a:off x="582548" y="5013367"/>
            <a:ext cx="6321182" cy="1549968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SOCIAL VIABILITY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dirty="0"/>
              <a:t>Multilingual </a:t>
            </a:r>
            <a:r>
              <a:rPr lang="en-IN" sz="1400" dirty="0">
                <a:sym typeface="Wingdings" panose="05000000000000000000" pitchFamily="2" charset="2"/>
              </a:rPr>
              <a:t> </a:t>
            </a:r>
            <a:r>
              <a:rPr lang="en-IN" sz="1400" dirty="0"/>
              <a:t>Local people can also get knowledge of the risk of the water and disease caused.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dirty="0"/>
              <a:t>Alerts are given to the health officials so that they can control the water flow before the disease caused.</a:t>
            </a:r>
          </a:p>
          <a:p>
            <a:pPr algn="ctr"/>
            <a:endParaRPr lang="en-IN" sz="1400" b="1" dirty="0"/>
          </a:p>
        </p:txBody>
      </p:sp>
      <p:pic>
        <p:nvPicPr>
          <p:cNvPr id="15" name="Picture 14" descr="A screen shot of a thermometer&#10;&#10;AI-generated content may be incorrect.">
            <a:extLst>
              <a:ext uri="{FF2B5EF4-FFF2-40B4-BE49-F238E27FC236}">
                <a16:creationId xmlns:a16="http://schemas.microsoft.com/office/drawing/2014/main" id="{1F725AC4-F62F-249B-0348-2D8ACB260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601" y="1256523"/>
            <a:ext cx="4455251" cy="542532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578882-A4C0-2247-0A4D-623A3FAE56BE}"/>
              </a:ext>
            </a:extLst>
          </p:cNvPr>
          <p:cNvSpPr/>
          <p:nvPr/>
        </p:nvSpPr>
        <p:spPr>
          <a:xfrm>
            <a:off x="10837069" y="6356353"/>
            <a:ext cx="992981" cy="206982"/>
          </a:xfrm>
          <a:prstGeom prst="rect">
            <a:avLst/>
          </a:prstGeom>
          <a:solidFill>
            <a:srgbClr val="313131"/>
          </a:solidFill>
          <a:ln>
            <a:solidFill>
              <a:srgbClr val="313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4E4244-DCDD-BB06-6DAC-D207045DA4B2}"/>
              </a:ext>
            </a:extLst>
          </p:cNvPr>
          <p:cNvSpPr/>
          <p:nvPr/>
        </p:nvSpPr>
        <p:spPr>
          <a:xfrm>
            <a:off x="447040" y="3718560"/>
            <a:ext cx="6356369" cy="29142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690" y="47521"/>
            <a:ext cx="1984251" cy="100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DF4E3BA-479D-7CBF-CB04-7C8A32CE3216}"/>
              </a:ext>
            </a:extLst>
          </p:cNvPr>
          <p:cNvSpPr/>
          <p:nvPr/>
        </p:nvSpPr>
        <p:spPr>
          <a:xfrm>
            <a:off x="322430" y="102576"/>
            <a:ext cx="1683792" cy="886887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75D9D-6D3A-1D5E-DC4E-3E4E5078844A}"/>
              </a:ext>
            </a:extLst>
          </p:cNvPr>
          <p:cNvSpPr/>
          <p:nvPr/>
        </p:nvSpPr>
        <p:spPr>
          <a:xfrm>
            <a:off x="447040" y="1056091"/>
            <a:ext cx="6356369" cy="24377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657761-95EA-FA5A-706E-B337F9F7E9F5}"/>
              </a:ext>
            </a:extLst>
          </p:cNvPr>
          <p:cNvSpPr/>
          <p:nvPr/>
        </p:nvSpPr>
        <p:spPr>
          <a:xfrm>
            <a:off x="863598" y="1449609"/>
            <a:ext cx="5308599" cy="957636"/>
          </a:xfrm>
          <a:prstGeom prst="roundRect">
            <a:avLst>
              <a:gd name="adj" fmla="val 39391"/>
            </a:avLst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The Disease Before It Spread: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disease before the symptoms occur.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health officials to take action quickly.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control the water flow if the water is risk</a:t>
            </a:r>
            <a:endParaRPr lang="en-IN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72D7DB-0B8A-A6EE-F280-EC6A68D28A74}"/>
              </a:ext>
            </a:extLst>
          </p:cNvPr>
          <p:cNvSpPr/>
          <p:nvPr/>
        </p:nvSpPr>
        <p:spPr>
          <a:xfrm>
            <a:off x="939797" y="2575223"/>
            <a:ext cx="5232401" cy="751840"/>
          </a:xfrm>
          <a:prstGeom prst="roundRect">
            <a:avLst>
              <a:gd name="adj" fmla="val 50000"/>
            </a:avLst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 Time Water Quality Monitoring: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Give Instructions according to the water </a:t>
            </a:r>
            <a:r>
              <a:rPr lang="en-IN" sz="14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endParaRPr lang="en-IN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C265B1-6B09-021A-1A83-F52FE2243529}"/>
              </a:ext>
            </a:extLst>
          </p:cNvPr>
          <p:cNvSpPr/>
          <p:nvPr/>
        </p:nvSpPr>
        <p:spPr>
          <a:xfrm>
            <a:off x="863599" y="4165069"/>
            <a:ext cx="5384800" cy="945555"/>
          </a:xfrm>
          <a:prstGeom prst="roundRect">
            <a:avLst>
              <a:gd name="adj" fmla="val 417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 Lives Through Early Disease Prevention: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unsafe water and prevent from the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causage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diseases.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DE5C257-3A69-2836-E35A-0F6019884F5E}"/>
              </a:ext>
            </a:extLst>
          </p:cNvPr>
          <p:cNvSpPr/>
          <p:nvPr/>
        </p:nvSpPr>
        <p:spPr>
          <a:xfrm>
            <a:off x="863598" y="5277388"/>
            <a:ext cx="5384801" cy="1145797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Empowering Rural Communities With Smart Technologies: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providing real time data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D50026E4-D97E-C596-84FC-45385993B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75" y="3718560"/>
            <a:ext cx="4992370" cy="26377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E9F6376-BF64-DAEF-4825-2583508D5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102" y="1214939"/>
            <a:ext cx="3998915" cy="2214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392C19-3629-0E4C-68D1-31CEF940E161}"/>
              </a:ext>
            </a:extLst>
          </p:cNvPr>
          <p:cNvSpPr txBox="1"/>
          <p:nvPr/>
        </p:nvSpPr>
        <p:spPr>
          <a:xfrm>
            <a:off x="3009332" y="3751475"/>
            <a:ext cx="127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1BD14-F894-A709-E5AC-F70DE0E4254B}"/>
              </a:ext>
            </a:extLst>
          </p:cNvPr>
          <p:cNvSpPr/>
          <p:nvPr/>
        </p:nvSpPr>
        <p:spPr>
          <a:xfrm>
            <a:off x="11187113" y="6107906"/>
            <a:ext cx="664368" cy="17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AE96C4-1B7F-8C78-53FD-C7B0B4A09075}"/>
              </a:ext>
            </a:extLst>
          </p:cNvPr>
          <p:cNvSpPr/>
          <p:nvPr/>
        </p:nvSpPr>
        <p:spPr>
          <a:xfrm>
            <a:off x="10742631" y="3225608"/>
            <a:ext cx="664368" cy="17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57400" y="169831"/>
            <a:ext cx="7966880" cy="925543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280" y="132784"/>
            <a:ext cx="2026205" cy="92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67A6FE-8630-5A64-E0BE-7A056C598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20212"/>
              </p:ext>
            </p:extLst>
          </p:nvPr>
        </p:nvGraphicFramePr>
        <p:xfrm>
          <a:off x="292100" y="1221265"/>
          <a:ext cx="6923269" cy="5247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014">
                  <a:extLst>
                    <a:ext uri="{9D8B030D-6E8A-4147-A177-3AD203B41FA5}">
                      <a16:colId xmlns:a16="http://schemas.microsoft.com/office/drawing/2014/main" val="2591275523"/>
                    </a:ext>
                  </a:extLst>
                </a:gridCol>
                <a:gridCol w="3354595">
                  <a:extLst>
                    <a:ext uri="{9D8B030D-6E8A-4147-A177-3AD203B41FA5}">
                      <a16:colId xmlns:a16="http://schemas.microsoft.com/office/drawing/2014/main" val="1134644208"/>
                    </a:ext>
                  </a:extLst>
                </a:gridCol>
                <a:gridCol w="1820660">
                  <a:extLst>
                    <a:ext uri="{9D8B030D-6E8A-4147-A177-3AD203B41FA5}">
                      <a16:colId xmlns:a16="http://schemas.microsoft.com/office/drawing/2014/main" val="4072037776"/>
                    </a:ext>
                  </a:extLst>
                </a:gridCol>
              </a:tblGrid>
              <a:tr h="3807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endParaRPr lang="en-IN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Links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462525"/>
                  </a:ext>
                </a:extLst>
              </a:tr>
              <a:tr h="9559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Quality Parameters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Turbidity, pH, temperature, and presence of coliform bacteria are often the parameters that are measured to access water quality and contamination risk.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CDC – Healthy Water Data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751721"/>
                  </a:ext>
                </a:extLst>
              </a:tr>
              <a:tr h="14847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Disease Detection Works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 involves outbreak investigations where two or more people are linked by time, location, and type of illness.  Contaminated water is confirmed as the source by epidemiologic studies.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u="sng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CDC – Healthy Water Data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897706"/>
                  </a:ext>
                </a:extLst>
              </a:tr>
              <a:tr h="12711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AIML Prediction Works in Disease Detection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AIML models </a:t>
                      </a:r>
                      <a:r>
                        <a:rPr lang="en-IN" sz="14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1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large datasets to. By training them on past outbreaks, they can predict risks of contamination and possible disease outbreaks.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u="sng" kern="100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ResearchGate – AI in Waterborne Diseases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198800"/>
                  </a:ext>
                </a:extLst>
              </a:tr>
              <a:tr h="115447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AIML Models for Disease Detection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AI model used for disease detection is XG Boost . Preprocess and train the AI model. Use the trained model to predict outcomes on new/test data.</a:t>
                      </a:r>
                      <a:r>
                        <a:rPr lang="en-IN" sz="1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u="sng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Springer – AI in Disease Detection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254606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465B71A-4096-59CB-18DC-2E92A2F84288}"/>
              </a:ext>
            </a:extLst>
          </p:cNvPr>
          <p:cNvSpPr/>
          <p:nvPr/>
        </p:nvSpPr>
        <p:spPr>
          <a:xfrm>
            <a:off x="370196" y="169831"/>
            <a:ext cx="1618965" cy="844284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A3CC1F5-E063-0202-1AC3-C1210AEA7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97" y="1291069"/>
            <a:ext cx="4533524" cy="49597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8723</TotalTime>
  <Words>654</Words>
  <Application>Microsoft Office PowerPoint</Application>
  <PresentationFormat>Widescreen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SAHAY: Smart Aqua Health Alert Yantra 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Manu Anandan</cp:lastModifiedBy>
  <cp:revision>165</cp:revision>
  <cp:lastPrinted>2025-09-05T07:43:09Z</cp:lastPrinted>
  <dcterms:created xsi:type="dcterms:W3CDTF">2013-12-12T18:46:50Z</dcterms:created>
  <dcterms:modified xsi:type="dcterms:W3CDTF">2025-09-26T09:35:39Z</dcterms:modified>
  <cp:category/>
</cp:coreProperties>
</file>