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6"/>
  </p:notesMasterIdLst>
  <p:handoutMasterIdLst>
    <p:handoutMasterId r:id="rId17"/>
  </p:handoutMasterIdLst>
  <p:sldIdLst>
    <p:sldId id="261" r:id="rId5"/>
    <p:sldId id="314" r:id="rId6"/>
    <p:sldId id="273" r:id="rId7"/>
    <p:sldId id="322" r:id="rId8"/>
    <p:sldId id="315" r:id="rId9"/>
    <p:sldId id="316" r:id="rId10"/>
    <p:sldId id="317" r:id="rId11"/>
    <p:sldId id="318" r:id="rId12"/>
    <p:sldId id="319" r:id="rId13"/>
    <p:sldId id="320" r:id="rId14"/>
    <p:sldId id="32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  <a:srgbClr val="9966FF"/>
    <a:srgbClr val="9999FF"/>
    <a:srgbClr val="EEEEEE"/>
    <a:srgbClr val="87175F"/>
    <a:srgbClr val="EEC621"/>
    <a:srgbClr val="E58C09"/>
    <a:srgbClr val="43467B"/>
    <a:srgbClr val="AEA422"/>
    <a:srgbClr val="F69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20" autoAdjust="0"/>
    <p:restoredTop sz="95034" autoAdjust="0"/>
  </p:normalViewPr>
  <p:slideViewPr>
    <p:cSldViewPr>
      <p:cViewPr varScale="1">
        <p:scale>
          <a:sx n="75" d="100"/>
          <a:sy n="75" d="100"/>
        </p:scale>
        <p:origin x="441" y="2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30-Dec-25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30-Dec-25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691" r="1691"/>
          <a:stretch/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10800000" flipH="1" flipV="1">
            <a:off x="7983422" y="3050142"/>
            <a:ext cx="2087678" cy="32706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95500" y="582580"/>
            <a:ext cx="7810500" cy="5638800"/>
          </a:xfrm>
        </p:spPr>
        <p:txBody>
          <a:bodyPr/>
          <a:lstStyle/>
          <a:p>
            <a:r>
              <a:rPr lang="en-IN" dirty="0"/>
              <a:t>Backend Frameworks – Final </a:t>
            </a:r>
            <a:r>
              <a:rPr lang="en-IN" dirty="0" err="1"/>
              <a:t>ProjectackenmeworFinal</a:t>
            </a:r>
            <a:r>
              <a:rPr lang="en-IN" dirty="0"/>
              <a:t> Project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66F548-B438-3E15-08C1-9F2088775F1B}"/>
              </a:ext>
            </a:extLst>
          </p:cNvPr>
          <p:cNvSpPr/>
          <p:nvPr/>
        </p:nvSpPr>
        <p:spPr>
          <a:xfrm>
            <a:off x="2667000" y="1763158"/>
            <a:ext cx="6858000" cy="12742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962800"/>
            <a:ext cx="6934200" cy="934290"/>
          </a:xfrm>
        </p:spPr>
        <p:txBody>
          <a:bodyPr>
            <a:normAutofit/>
          </a:bodyPr>
          <a:lstStyle/>
          <a:p>
            <a:r>
              <a:rPr lang="en-IN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Warranty Tracker </a:t>
            </a:r>
            <a:endParaRPr lang="en-US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DCB061-192E-94AD-8209-AE612CDA9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97249"/>
              </p:ext>
            </p:extLst>
          </p:nvPr>
        </p:nvGraphicFramePr>
        <p:xfrm>
          <a:off x="3124200" y="3429000"/>
          <a:ext cx="6112562" cy="1981200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2384457">
                  <a:extLst>
                    <a:ext uri="{9D8B030D-6E8A-4147-A177-3AD203B41FA5}">
                      <a16:colId xmlns:a16="http://schemas.microsoft.com/office/drawing/2014/main" val="1373620944"/>
                    </a:ext>
                  </a:extLst>
                </a:gridCol>
                <a:gridCol w="3728105">
                  <a:extLst>
                    <a:ext uri="{9D8B030D-6E8A-4147-A177-3AD203B41FA5}">
                      <a16:colId xmlns:a16="http://schemas.microsoft.com/office/drawing/2014/main" val="3599491107"/>
                    </a:ext>
                  </a:extLst>
                </a:gridCol>
              </a:tblGrid>
              <a:tr h="361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Name: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Manu Anandan G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091246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Register No: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727824TUIT124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267365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Information Technology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006765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Institution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Sri Krishna College Of Technology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4965024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Academic Year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2025 - 2026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136111"/>
                  </a:ext>
                </a:extLst>
              </a:tr>
            </a:tbl>
          </a:graphicData>
        </a:graphic>
      </p:graphicFrame>
      <p:sp>
        <p:nvSpPr>
          <p:cNvPr id="2" name="Title 5">
            <a:extLst>
              <a:ext uri="{FF2B5EF4-FFF2-40B4-BE49-F238E27FC236}">
                <a16:creationId xmlns:a16="http://schemas.microsoft.com/office/drawing/2014/main" id="{8CEDF71A-D0A8-4466-A50C-407CF783B9B8}"/>
              </a:ext>
            </a:extLst>
          </p:cNvPr>
          <p:cNvSpPr txBox="1">
            <a:spLocks/>
          </p:cNvSpPr>
          <p:nvPr/>
        </p:nvSpPr>
        <p:spPr>
          <a:xfrm>
            <a:off x="2286000" y="881680"/>
            <a:ext cx="7467600" cy="7947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23CS404 - Backend Frameworks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8AA5-3632-23AD-78C9-3F6E90A4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" y="762000"/>
            <a:ext cx="10805160" cy="762000"/>
          </a:xfrm>
        </p:spPr>
        <p:txBody>
          <a:bodyPr>
            <a:normAutofit fontScale="90000"/>
          </a:bodyPr>
          <a:lstStyle/>
          <a:p>
            <a:r>
              <a:rPr lang="en-IN" sz="5600" b="1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45046-CDD6-8F3E-1D15-91899558A5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3240" y="1752600"/>
            <a:ext cx="11135360" cy="4648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100" dirty="0"/>
              <a:t>Managing product warranties is often inefficient due to scattered records, lack of security, and difficulty in tracking expiry dates and alerts. The </a:t>
            </a:r>
            <a:r>
              <a:rPr lang="en-US" sz="2100" b="1" dirty="0"/>
              <a:t>Digital Warranty Tracker</a:t>
            </a:r>
            <a:r>
              <a:rPr lang="en-US" sz="2100" dirty="0"/>
              <a:t> aims to solve this by providing a centralized, secure backend system with JWT‑based authentication, role‑based access control, and automated warranty management features, ensuring reliability, scalability, and ease of use for both users and administrators.</a:t>
            </a:r>
          </a:p>
          <a:p>
            <a:pPr marL="0" indent="0">
              <a:buNone/>
            </a:pPr>
            <a:r>
              <a:rPr lang="en-IN" sz="2100" dirty="0"/>
              <a:t>The </a:t>
            </a:r>
            <a:r>
              <a:rPr lang="en-IN" sz="2100" b="1" dirty="0"/>
              <a:t>Digital Warranty Tracker Project</a:t>
            </a:r>
            <a:r>
              <a:rPr lang="en-IN" sz="2100" dirty="0"/>
              <a:t> addresses these challenges by:</a:t>
            </a:r>
          </a:p>
          <a:p>
            <a:pPr lvl="0"/>
            <a:r>
              <a:rPr lang="en-IN" sz="2100" dirty="0"/>
              <a:t>Designing a </a:t>
            </a:r>
            <a:r>
              <a:rPr lang="en-IN" sz="2100" b="1" dirty="0"/>
              <a:t>structured layered architecture</a:t>
            </a:r>
            <a:r>
              <a:rPr lang="en-IN" sz="2100" dirty="0"/>
              <a:t> that separates concerns across controllers, services, repositories, and security.</a:t>
            </a:r>
          </a:p>
          <a:p>
            <a:pPr lvl="0"/>
            <a:r>
              <a:rPr lang="en-IN" sz="2100" dirty="0"/>
              <a:t>Using </a:t>
            </a:r>
            <a:r>
              <a:rPr lang="en-IN" sz="2100" b="1" dirty="0"/>
              <a:t>ORM-based persistence (Hibernate/JPA)</a:t>
            </a:r>
            <a:r>
              <a:rPr lang="en-IN" sz="2100" dirty="0"/>
              <a:t> to eliminate manual SQL and improve maintainability.</a:t>
            </a:r>
          </a:p>
          <a:p>
            <a:pPr lvl="0"/>
            <a:r>
              <a:rPr lang="en-IN" sz="2100" dirty="0"/>
              <a:t>Implementing </a:t>
            </a:r>
            <a:r>
              <a:rPr lang="en-IN" sz="2100" b="1" dirty="0"/>
              <a:t>JWT-based authentication</a:t>
            </a:r>
            <a:r>
              <a:rPr lang="en-IN" sz="2100" dirty="0"/>
              <a:t> to secure endpoints and enforce role-based access control.</a:t>
            </a:r>
          </a:p>
          <a:p>
            <a:pPr lvl="0"/>
            <a:r>
              <a:rPr lang="en-IN" sz="2100" dirty="0"/>
              <a:t>Introducing </a:t>
            </a:r>
            <a:r>
              <a:rPr lang="en-IN" sz="2100" b="1" dirty="0"/>
              <a:t>centralized exception handling</a:t>
            </a:r>
            <a:r>
              <a:rPr lang="en-IN" sz="2100" dirty="0"/>
              <a:t> to ensure consistent error responses across the application.</a:t>
            </a:r>
          </a:p>
          <a:p>
            <a:endParaRPr lang="en-IN" sz="22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4668759-3113-C573-8B33-4207199208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5881" b="45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306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827105"/>
            <a:ext cx="10805160" cy="707886"/>
          </a:xfrm>
        </p:spPr>
        <p:txBody>
          <a:bodyPr>
            <a:noAutofit/>
          </a:bodyPr>
          <a:lstStyle/>
          <a:p>
            <a:r>
              <a:rPr lang="en-IN" sz="5000" b="1" dirty="0"/>
              <a:t>Objectives</a:t>
            </a:r>
            <a:endParaRPr lang="en-IN" sz="500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438400"/>
            <a:ext cx="6309360" cy="4191000"/>
          </a:xfrm>
        </p:spPr>
        <p:txBody>
          <a:bodyPr>
            <a:normAutofit fontScale="92500"/>
          </a:bodyPr>
          <a:lstStyle/>
          <a:p>
            <a:pPr lvl="0"/>
            <a:r>
              <a:rPr lang="en-IN" sz="2400" b="1" dirty="0"/>
              <a:t>Layered Architecture</a:t>
            </a:r>
            <a:r>
              <a:rPr lang="en-IN" sz="2400" dirty="0"/>
              <a:t>: Ensure clean separation of concerns for scalability and maintainability.</a:t>
            </a:r>
          </a:p>
          <a:p>
            <a:pPr lvl="0"/>
            <a:r>
              <a:rPr lang="en-IN" sz="2400" b="1" dirty="0"/>
              <a:t>RESTful APIs</a:t>
            </a:r>
            <a:r>
              <a:rPr lang="en-IN" sz="2400" dirty="0"/>
              <a:t>: Provide standardized endpoints for warranty-related operations.</a:t>
            </a:r>
          </a:p>
          <a:p>
            <a:pPr lvl="0"/>
            <a:r>
              <a:rPr lang="en-IN" sz="2400" b="1" dirty="0"/>
              <a:t>Database Integration</a:t>
            </a:r>
            <a:r>
              <a:rPr lang="en-IN" sz="2400" dirty="0"/>
              <a:t>: Use JPA/Hibernate for persistence, ensuring entity relationships are managed efficiently.</a:t>
            </a:r>
          </a:p>
          <a:p>
            <a:pPr lvl="0"/>
            <a:r>
              <a:rPr lang="en-IN" sz="2400" b="1" dirty="0"/>
              <a:t>Validation &amp; Exception Handling</a:t>
            </a:r>
            <a:r>
              <a:rPr lang="en-IN" sz="2400" dirty="0"/>
              <a:t>: Enforce business rules and provide predictable error responses.</a:t>
            </a:r>
          </a:p>
          <a:p>
            <a:pPr lvl="0"/>
            <a:r>
              <a:rPr lang="en-IN" sz="2400" b="1" dirty="0"/>
              <a:t>Security</a:t>
            </a:r>
            <a:r>
              <a:rPr lang="en-IN" sz="2400" dirty="0"/>
              <a:t>: Implement JWT authentication and role-based authorization to protect sensitive data.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4732"/>
          </a:xfrm>
        </p:spPr>
        <p:txBody>
          <a:bodyPr/>
          <a:lstStyle/>
          <a:p>
            <a:r>
              <a:rPr lang="en-IN" dirty="0"/>
              <a:t>The project was designed with the following objectives:</a:t>
            </a:r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47192" b="47192"/>
          <a:stretch/>
        </p:blipFill>
        <p:spPr>
          <a:xfrm>
            <a:off x="0" y="0"/>
            <a:ext cx="8329613" cy="457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A9607-2A37-E8C8-5023-F99B43DFA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92" t="18095" r="9668" b="1490"/>
          <a:stretch>
            <a:fillRect/>
          </a:stretch>
        </p:blipFill>
        <p:spPr>
          <a:xfrm>
            <a:off x="7378700" y="2383950"/>
            <a:ext cx="3962400" cy="422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22FF-98B5-C04F-171B-2C26DCA6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762000"/>
            <a:ext cx="10805160" cy="762000"/>
          </a:xfrm>
        </p:spPr>
        <p:txBody>
          <a:bodyPr>
            <a:normAutofit fontScale="90000"/>
          </a:bodyPr>
          <a:lstStyle/>
          <a:p>
            <a:r>
              <a:rPr lang="en-US" sz="5000" b="1" dirty="0"/>
              <a:t>TECHNOLOGY STACK</a:t>
            </a:r>
            <a:endParaRPr lang="en-IN" sz="5000" b="1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D9E6954-C822-48D7-18DD-1189FA9A104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4950" b="44950"/>
          <a:stretch>
            <a:fillRect/>
          </a:stretch>
        </p:blipFill>
        <p:spPr/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A625F8-0AE8-B257-5CA1-A245DC7448B9}"/>
              </a:ext>
            </a:extLst>
          </p:cNvPr>
          <p:cNvSpPr/>
          <p:nvPr/>
        </p:nvSpPr>
        <p:spPr>
          <a:xfrm>
            <a:off x="685799" y="1524000"/>
            <a:ext cx="5181601" cy="3429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sz="2500" b="1" dirty="0">
                <a:solidFill>
                  <a:schemeClr val="tx1"/>
                </a:solidFill>
              </a:rPr>
              <a:t>Core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Java 17+ →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Spring Boot → Builds REST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Spring Security → Handles login and role checks (USER / ADMIN)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JWT → Tokens for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Hibernate / JPA → Connects Java objects to database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MariaDB / MySQL → Database for users, products, warranties, alerts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F129BF-7B79-E320-7316-36FE04E17423}"/>
              </a:ext>
            </a:extLst>
          </p:cNvPr>
          <p:cNvSpPr/>
          <p:nvPr/>
        </p:nvSpPr>
        <p:spPr>
          <a:xfrm>
            <a:off x="685800" y="5029200"/>
            <a:ext cx="5181600" cy="149250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b="1" dirty="0">
                <a:solidFill>
                  <a:schemeClr val="tx1"/>
                </a:solidFill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Maven  → Build and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Swagger UI → API testing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0833C4-B4F2-B6A8-C3C4-DD6E262CC194}"/>
              </a:ext>
            </a:extLst>
          </p:cNvPr>
          <p:cNvSpPr/>
          <p:nvPr/>
        </p:nvSpPr>
        <p:spPr>
          <a:xfrm>
            <a:off x="6096001" y="1524000"/>
            <a:ext cx="5105400" cy="3429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500" b="1" dirty="0">
                <a:solidFill>
                  <a:schemeClr val="tx1"/>
                </a:solidFill>
              </a:rPr>
              <a:t>Key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spring‑boot‑starter‑web → REST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spring‑boot‑starter‑security → Security + password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spring‑boot‑starter‑data‑</a:t>
            </a:r>
            <a:r>
              <a:rPr lang="en-IN" dirty="0" err="1">
                <a:solidFill>
                  <a:schemeClr val="tx1"/>
                </a:solidFill>
              </a:rPr>
              <a:t>jpa</a:t>
            </a:r>
            <a:r>
              <a:rPr lang="en-IN" dirty="0">
                <a:solidFill>
                  <a:schemeClr val="tx1"/>
                </a:solidFill>
              </a:rPr>
              <a:t> → Database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jjwt</a:t>
            </a:r>
            <a:r>
              <a:rPr lang="en-IN" dirty="0">
                <a:solidFill>
                  <a:schemeClr val="tx1"/>
                </a:solidFill>
              </a:rPr>
              <a:t> → JWT creation and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springdoc‑openapi</a:t>
            </a:r>
            <a:r>
              <a:rPr lang="en-IN" dirty="0">
                <a:solidFill>
                  <a:schemeClr val="tx1"/>
                </a:solidFill>
              </a:rPr>
              <a:t> → Swagger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Lombok → Cuts down boilerplate 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D53019-DA77-1D62-27D4-F0B3BDCFAFCB}"/>
              </a:ext>
            </a:extLst>
          </p:cNvPr>
          <p:cNvSpPr/>
          <p:nvPr/>
        </p:nvSpPr>
        <p:spPr>
          <a:xfrm>
            <a:off x="6096000" y="5105400"/>
            <a:ext cx="5105400" cy="14478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</a:t>
            </a:r>
            <a:r>
              <a:rPr lang="en-IN" sz="2500" b="1" dirty="0">
                <a:solidFill>
                  <a:schemeClr val="tx1"/>
                </a:solidFill>
              </a:rPr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BCryptPasswordEncoder</a:t>
            </a:r>
            <a:r>
              <a:rPr lang="en-IN" dirty="0">
                <a:solidFill>
                  <a:schemeClr val="tx1"/>
                </a:solidFill>
              </a:rPr>
              <a:t> → Hashes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JWT Filter → Reads token and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@PreAuthorize → Restricts endpoints by role</a:t>
            </a:r>
          </a:p>
        </p:txBody>
      </p:sp>
    </p:spTree>
    <p:extLst>
      <p:ext uri="{BB962C8B-B14F-4D97-AF65-F5344CB8AC3E}">
        <p14:creationId xmlns:p14="http://schemas.microsoft.com/office/powerpoint/2010/main" val="47776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D1D6-D639-EC52-B23E-4AB3CE93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1" y="914400"/>
            <a:ext cx="10805160" cy="762000"/>
          </a:xfrm>
        </p:spPr>
        <p:txBody>
          <a:bodyPr>
            <a:noAutofit/>
          </a:bodyPr>
          <a:lstStyle/>
          <a:p>
            <a:r>
              <a:rPr lang="en-IN" sz="5000" b="1" dirty="0"/>
              <a:t>System Analysis &amp; Design 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7261-8000-1D82-9436-A25E5D0B7B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1905000"/>
            <a:ext cx="5166360" cy="4648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200" b="1" u="sng" dirty="0"/>
              <a:t>1. System Overview</a:t>
            </a:r>
          </a:p>
          <a:p>
            <a:r>
              <a:rPr lang="en-US" b="1" dirty="0"/>
              <a:t>Client requests</a:t>
            </a:r>
            <a:r>
              <a:rPr lang="en-US" dirty="0"/>
              <a:t> are handled by REST controllers.</a:t>
            </a:r>
          </a:p>
          <a:p>
            <a:r>
              <a:rPr lang="en-US" dirty="0"/>
              <a:t>Controllers </a:t>
            </a:r>
            <a:r>
              <a:rPr lang="en-US" b="1" dirty="0"/>
              <a:t>delegate tasks</a:t>
            </a:r>
            <a:r>
              <a:rPr lang="en-US" dirty="0"/>
              <a:t> to the service layer.</a:t>
            </a:r>
          </a:p>
          <a:p>
            <a:r>
              <a:rPr lang="en-US" dirty="0"/>
              <a:t>The </a:t>
            </a:r>
            <a:r>
              <a:rPr lang="en-US" b="1" dirty="0"/>
              <a:t>service layer enforces business rules</a:t>
            </a:r>
            <a:r>
              <a:rPr lang="en-US" dirty="0"/>
              <a:t> and interacts with the repository layer.</a:t>
            </a:r>
          </a:p>
          <a:p>
            <a:r>
              <a:rPr lang="en-US" dirty="0"/>
              <a:t>The </a:t>
            </a:r>
            <a:r>
              <a:rPr lang="en-US" b="1" dirty="0"/>
              <a:t>repository layer manages persistence</a:t>
            </a:r>
            <a:r>
              <a:rPr lang="en-US" dirty="0"/>
              <a:t> using Spring Data JPA.</a:t>
            </a:r>
          </a:p>
          <a:p>
            <a:r>
              <a:rPr lang="en-US" dirty="0"/>
              <a:t>Data is ultimately </a:t>
            </a:r>
            <a:r>
              <a:rPr lang="en-US" b="1" dirty="0"/>
              <a:t>stored in the database</a:t>
            </a:r>
            <a:r>
              <a:rPr lang="en-US" dirty="0"/>
              <a:t>.</a:t>
            </a:r>
          </a:p>
          <a:p>
            <a:r>
              <a:rPr lang="en-US" b="1" dirty="0"/>
              <a:t>Security is applied at the entry point</a:t>
            </a:r>
            <a:r>
              <a:rPr lang="en-US" dirty="0"/>
              <a:t> using JWT authentication.</a:t>
            </a:r>
          </a:p>
          <a:p>
            <a:r>
              <a:rPr lang="en-US" dirty="0"/>
              <a:t>JWT ensures that </a:t>
            </a:r>
            <a:r>
              <a:rPr lang="en-US" b="1" dirty="0"/>
              <a:t>only authorized users</a:t>
            </a:r>
            <a:r>
              <a:rPr lang="en-US" dirty="0"/>
              <a:t> can access protected endpoints.</a:t>
            </a:r>
          </a:p>
          <a:p>
            <a:r>
              <a:rPr lang="en-US" dirty="0"/>
              <a:t>This flow guarantees a </a:t>
            </a:r>
            <a:r>
              <a:rPr lang="en-US" b="1" dirty="0"/>
              <a:t>clean separation of concerns</a:t>
            </a:r>
            <a:r>
              <a:rPr lang="en-US" dirty="0"/>
              <a:t>.</a:t>
            </a:r>
          </a:p>
          <a:p>
            <a:r>
              <a:rPr lang="en-US" dirty="0"/>
              <a:t>The design helps to </a:t>
            </a:r>
            <a:r>
              <a:rPr lang="en-US" b="1" dirty="0"/>
              <a:t>prevent unauthorized access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4EFC0AE-3C55-EBB8-22D8-D92DDEE60F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5881" b="45881"/>
          <a:stretch>
            <a:fillRect/>
          </a:stretch>
        </p:blipFill>
        <p:spPr/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967C73-3BD9-62F6-1192-487F0F525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19" y="1824858"/>
            <a:ext cx="5577840" cy="48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9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F643-F031-DFD3-F05B-2E37CAA3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838200"/>
          </a:xfrm>
        </p:spPr>
        <p:txBody>
          <a:bodyPr>
            <a:normAutofit fontScale="90000"/>
          </a:bodyPr>
          <a:lstStyle/>
          <a:p>
            <a:r>
              <a:rPr lang="en-IN" sz="5000" b="1" dirty="0"/>
              <a:t>System Analysis &amp; Design </a:t>
            </a:r>
            <a:endParaRPr lang="en-IN" sz="5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1D37E13-8E04-EC9C-C52C-9F4CBE11872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7192" b="47192"/>
          <a:stretch/>
        </p:blipFill>
        <p:spPr/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BFB1E8-C22E-1FCF-60DB-359FF5FE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4724400" cy="466776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EFBDD9-C1B3-8501-826E-440CF71440FD}"/>
              </a:ext>
            </a:extLst>
          </p:cNvPr>
          <p:cNvSpPr txBox="1">
            <a:spLocks/>
          </p:cNvSpPr>
          <p:nvPr/>
        </p:nvSpPr>
        <p:spPr>
          <a:xfrm>
            <a:off x="5654041" y="1905000"/>
            <a:ext cx="6004559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 dirty="0"/>
              <a:t>3. Database Design</a:t>
            </a:r>
            <a:endParaRPr lang="en-IN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/>
              <a:t>	</a:t>
            </a:r>
            <a:r>
              <a:rPr lang="en-IN" dirty="0"/>
              <a:t>The database is normalized to reduce redundancy and improve performance. Key constraints include:</a:t>
            </a:r>
          </a:p>
          <a:p>
            <a:r>
              <a:rPr lang="en-IN" dirty="0"/>
              <a:t>Unique email for users.</a:t>
            </a:r>
          </a:p>
          <a:p>
            <a:r>
              <a:rPr lang="en-IN" dirty="0"/>
              <a:t>Unique serial number for warranties.</a:t>
            </a:r>
          </a:p>
          <a:p>
            <a:r>
              <a:rPr lang="en-IN" dirty="0"/>
              <a:t>Expiry date validation to ensure logical warranty periods.</a:t>
            </a:r>
          </a:p>
          <a:p>
            <a:r>
              <a:rPr lang="en-IN" dirty="0"/>
              <a:t>Indexes are applied on frequently queried fields such as email, </a:t>
            </a:r>
            <a:r>
              <a:rPr lang="en-IN" dirty="0" err="1"/>
              <a:t>serialNumber</a:t>
            </a:r>
            <a:r>
              <a:rPr lang="en-IN" dirty="0"/>
              <a:t>, and </a:t>
            </a:r>
            <a:r>
              <a:rPr lang="en-IN" dirty="0" err="1"/>
              <a:t>warrantyId</a:t>
            </a:r>
            <a:r>
              <a:rPr lang="en-IN" dirty="0"/>
              <a:t> to optimize query performance.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A67DD-4707-B4EF-DEEF-3D70A6548F02}"/>
              </a:ext>
            </a:extLst>
          </p:cNvPr>
          <p:cNvSpPr/>
          <p:nvPr/>
        </p:nvSpPr>
        <p:spPr>
          <a:xfrm>
            <a:off x="838200" y="6172200"/>
            <a:ext cx="1066800" cy="152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0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82D5-3F9F-1213-E212-6858FD72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723900"/>
            <a:ext cx="10805160" cy="762000"/>
          </a:xfrm>
        </p:spPr>
        <p:txBody>
          <a:bodyPr>
            <a:noAutofit/>
          </a:bodyPr>
          <a:lstStyle/>
          <a:p>
            <a:r>
              <a:rPr lang="en-IN" sz="5000" b="1" dirty="0"/>
              <a:t>Implementation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6056-06B0-ADE2-247F-3B4D3688D8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600200"/>
            <a:ext cx="3810000" cy="4800600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tx1"/>
                </a:solidFill>
              </a:rPr>
              <a:t>Spring Boot Setup</a:t>
            </a:r>
            <a:endParaRPr lang="en-IN" sz="2200" dirty="0">
              <a:solidFill>
                <a:schemeClr val="tx1"/>
              </a:solidFill>
            </a:endParaRPr>
          </a:p>
          <a:p>
            <a:pPr lvl="0"/>
            <a:r>
              <a:rPr lang="en-IN" dirty="0">
                <a:solidFill>
                  <a:schemeClr val="tx1"/>
                </a:solidFill>
              </a:rPr>
              <a:t>Configured with Maven dependencies: Web, JPA, Security, Validation, Swagger/</a:t>
            </a:r>
            <a:r>
              <a:rPr lang="en-IN" dirty="0" err="1">
                <a:solidFill>
                  <a:schemeClr val="tx1"/>
                </a:solidFill>
              </a:rPr>
              <a:t>OpenAPI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Application properties define MySQL connection, JWT secret, and token expiration.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Entry point: @SpringBootApplication in DemoApplication.java.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A640BE1-F63C-4674-DB49-D0044C78697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5881" b="45881"/>
          <a:stretch>
            <a:fillRect/>
          </a:stretch>
        </p:blipFill>
        <p:spPr/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03A7CF-C406-3411-842B-FA53EF92D467}"/>
              </a:ext>
            </a:extLst>
          </p:cNvPr>
          <p:cNvSpPr txBox="1">
            <a:spLocks/>
          </p:cNvSpPr>
          <p:nvPr/>
        </p:nvSpPr>
        <p:spPr>
          <a:xfrm>
            <a:off x="4229100" y="1600200"/>
            <a:ext cx="3810000" cy="4800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/>
              <a:t>Business Logic (Service Layer)</a:t>
            </a:r>
            <a:endParaRPr lang="en-IN" sz="2200" dirty="0"/>
          </a:p>
          <a:p>
            <a:pPr lvl="0"/>
            <a:r>
              <a:rPr lang="en-IN" dirty="0"/>
              <a:t>Passwords hashed with </a:t>
            </a:r>
            <a:r>
              <a:rPr lang="en-IN" dirty="0" err="1"/>
              <a:t>BCrypt</a:t>
            </a:r>
            <a:r>
              <a:rPr lang="en-IN" dirty="0"/>
              <a:t> before persistence.</a:t>
            </a:r>
          </a:p>
          <a:p>
            <a:pPr lvl="0"/>
            <a:r>
              <a:rPr lang="en-IN" dirty="0"/>
              <a:t>Default role set to USER during registration.</a:t>
            </a:r>
          </a:p>
          <a:p>
            <a:pPr lvl="0"/>
            <a:r>
              <a:rPr lang="en-IN" dirty="0"/>
              <a:t>Warranty expiry date validated against purchase date.</a:t>
            </a:r>
          </a:p>
          <a:p>
            <a:pPr lvl="0"/>
            <a:r>
              <a:rPr lang="en-IN" dirty="0"/>
              <a:t>Serial number uniqueness enforced before saving.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CD74D7-43CD-464B-CE96-0FB28E21B479}"/>
              </a:ext>
            </a:extLst>
          </p:cNvPr>
          <p:cNvSpPr txBox="1">
            <a:spLocks/>
          </p:cNvSpPr>
          <p:nvPr/>
        </p:nvSpPr>
        <p:spPr>
          <a:xfrm>
            <a:off x="8077200" y="1600200"/>
            <a:ext cx="3810000" cy="48006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/>
              <a:t>Repository Layer</a:t>
            </a:r>
            <a:endParaRPr lang="en-IN" sz="2200" dirty="0"/>
          </a:p>
          <a:p>
            <a:pPr lvl="0"/>
            <a:r>
              <a:rPr lang="en-IN" dirty="0"/>
              <a:t>All repositories extend </a:t>
            </a:r>
            <a:r>
              <a:rPr lang="en-IN" dirty="0" err="1"/>
              <a:t>JpaRepository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Custom methods: </a:t>
            </a:r>
          </a:p>
          <a:p>
            <a:pPr lvl="1"/>
            <a:r>
              <a:rPr lang="en-IN" sz="2000" dirty="0" err="1"/>
              <a:t>existsBySerialNumber</a:t>
            </a:r>
            <a:r>
              <a:rPr lang="en-IN" sz="2000" dirty="0"/>
              <a:t>() → warranty uniqueness.</a:t>
            </a:r>
          </a:p>
          <a:p>
            <a:pPr lvl="1"/>
            <a:r>
              <a:rPr lang="en-IN" sz="2000" dirty="0" err="1"/>
              <a:t>findByUserId</a:t>
            </a:r>
            <a:r>
              <a:rPr lang="en-IN" sz="2000" dirty="0"/>
              <a:t>() → fetch warranties for a user.</a:t>
            </a:r>
          </a:p>
          <a:p>
            <a:pPr lvl="1"/>
            <a:r>
              <a:rPr lang="en-IN" sz="2000" dirty="0" err="1"/>
              <a:t>findByEmail</a:t>
            </a:r>
            <a:r>
              <a:rPr lang="en-IN" sz="2000" dirty="0"/>
              <a:t>() → user authentication</a:t>
            </a:r>
            <a:r>
              <a:rPr lang="en-IN" sz="2000" b="1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7027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5E43-BFB4-0FB3-7A32-1B0710C1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762000"/>
            <a:ext cx="10805160" cy="762000"/>
          </a:xfrm>
        </p:spPr>
        <p:txBody>
          <a:bodyPr>
            <a:noAutofit/>
          </a:bodyPr>
          <a:lstStyle/>
          <a:p>
            <a:r>
              <a:rPr lang="en-IN" sz="5000" b="1" dirty="0"/>
              <a:t>Implementation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CFA04-4862-E09F-DA78-DA14195A63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717421"/>
            <a:ext cx="5791200" cy="1822958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API Documentation (Swagger/</a:t>
            </a:r>
            <a:r>
              <a:rPr lang="en-IN" b="1" dirty="0" err="1">
                <a:solidFill>
                  <a:schemeClr val="tx1"/>
                </a:solidFill>
              </a:rPr>
              <a:t>OpenAPI</a:t>
            </a:r>
            <a:r>
              <a:rPr lang="en-IN" b="1" dirty="0">
                <a:solidFill>
                  <a:schemeClr val="tx1"/>
                </a:solidFill>
              </a:rPr>
              <a:t>)</a:t>
            </a:r>
            <a:endParaRPr lang="en-IN" dirty="0">
              <a:solidFill>
                <a:schemeClr val="tx1"/>
              </a:solidFill>
            </a:endParaRPr>
          </a:p>
          <a:p>
            <a:pPr lvl="0"/>
            <a:r>
              <a:rPr lang="en-IN" sz="1800" dirty="0">
                <a:solidFill>
                  <a:schemeClr val="tx1"/>
                </a:solidFill>
              </a:rPr>
              <a:t>Swagger UI at /swagger-</a:t>
            </a:r>
            <a:r>
              <a:rPr lang="en-IN" sz="1800" dirty="0" err="1">
                <a:solidFill>
                  <a:schemeClr val="tx1"/>
                </a:solidFill>
              </a:rPr>
              <a:t>ui</a:t>
            </a:r>
            <a:r>
              <a:rPr lang="en-IN" sz="1800" dirty="0">
                <a:solidFill>
                  <a:schemeClr val="tx1"/>
                </a:solidFill>
              </a:rPr>
              <a:t>/index.html.</a:t>
            </a:r>
          </a:p>
          <a:p>
            <a:pPr lvl="0"/>
            <a:r>
              <a:rPr lang="en-IN" sz="1800" dirty="0">
                <a:solidFill>
                  <a:schemeClr val="tx1"/>
                </a:solidFill>
              </a:rPr>
              <a:t>JWT Bearer scheme for secured endpoints.</a:t>
            </a:r>
          </a:p>
          <a:p>
            <a:pPr lvl="0"/>
            <a:r>
              <a:rPr lang="en-IN" sz="1800" dirty="0">
                <a:solidFill>
                  <a:schemeClr val="tx1"/>
                </a:solidFill>
              </a:rPr>
              <a:t>Controllers annotated with @Tag and @Operation.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289740F-4268-0287-ED71-9DA2D53B6E3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7192" b="47192"/>
          <a:stretch>
            <a:fillRect/>
          </a:stretch>
        </p:blipFill>
        <p:spPr/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F4C51B-5E98-DBEC-7897-A5F91B8844AA}"/>
              </a:ext>
            </a:extLst>
          </p:cNvPr>
          <p:cNvSpPr txBox="1">
            <a:spLocks/>
          </p:cNvSpPr>
          <p:nvPr/>
        </p:nvSpPr>
        <p:spPr>
          <a:xfrm>
            <a:off x="533400" y="3581400"/>
            <a:ext cx="5791200" cy="29688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Exception Handling</a:t>
            </a:r>
            <a:endParaRPr lang="en-IN" dirty="0"/>
          </a:p>
          <a:p>
            <a:r>
              <a:rPr lang="en-IN" dirty="0"/>
              <a:t>Centralized </a:t>
            </a:r>
            <a:r>
              <a:rPr lang="en-IN" dirty="0" err="1"/>
              <a:t>GlobalExceptionHandler</a:t>
            </a:r>
            <a:r>
              <a:rPr lang="en-IN" dirty="0"/>
              <a:t> with @ControllerAdvice.</a:t>
            </a:r>
            <a:endParaRPr lang="en-IN" sz="1600" dirty="0"/>
          </a:p>
          <a:p>
            <a:r>
              <a:rPr lang="en-IN" dirty="0"/>
              <a:t>Handles validation errors (e.g., </a:t>
            </a:r>
            <a:r>
              <a:rPr lang="en-IN" i="1" dirty="0"/>
              <a:t>“Model number required”</a:t>
            </a:r>
            <a:r>
              <a:rPr lang="en-IN" dirty="0"/>
              <a:t>, </a:t>
            </a:r>
            <a:r>
              <a:rPr lang="en-IN" i="1" dirty="0"/>
              <a:t>“Expiry date must be after purchase date”</a:t>
            </a:r>
            <a:r>
              <a:rPr lang="en-IN" dirty="0"/>
              <a:t>).</a:t>
            </a:r>
            <a:endParaRPr lang="en-IN" sz="1600" dirty="0"/>
          </a:p>
          <a:p>
            <a:r>
              <a:rPr lang="en-IN" dirty="0"/>
              <a:t>Returns structured JSON error responses with proper HTTP codes.</a:t>
            </a:r>
            <a:endParaRPr lang="en-IN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E15025-B3A8-0FEA-37A5-DAA2C8C00035}"/>
              </a:ext>
            </a:extLst>
          </p:cNvPr>
          <p:cNvSpPr txBox="1">
            <a:spLocks/>
          </p:cNvSpPr>
          <p:nvPr/>
        </p:nvSpPr>
        <p:spPr>
          <a:xfrm>
            <a:off x="6324600" y="1371600"/>
            <a:ext cx="5181600" cy="517868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Security (JWT + RBAC)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JWT Flow: </a:t>
            </a:r>
            <a:endParaRPr lang="en-IN" sz="1400" dirty="0"/>
          </a:p>
          <a:p>
            <a:r>
              <a:rPr lang="en-IN" sz="1600" dirty="0"/>
              <a:t>User logs in → token generated with claims (id, email, role).</a:t>
            </a:r>
            <a:endParaRPr lang="en-IN" sz="1400" dirty="0"/>
          </a:p>
          <a:p>
            <a:r>
              <a:rPr lang="en-IN" sz="1600" dirty="0"/>
              <a:t>Token passed in Authorization: Bearer &lt;token&gt; header.</a:t>
            </a:r>
            <a:endParaRPr lang="en-IN" sz="1400" dirty="0"/>
          </a:p>
          <a:p>
            <a:r>
              <a:rPr lang="en-IN" sz="1600" dirty="0"/>
              <a:t>Filter validates token and sets authentication context.</a:t>
            </a:r>
            <a:endParaRPr lang="en-IN" sz="1400" dirty="0"/>
          </a:p>
          <a:p>
            <a:pPr marL="0" indent="0">
              <a:buNone/>
            </a:pPr>
            <a:r>
              <a:rPr lang="en-IN" sz="1600" b="1" dirty="0"/>
              <a:t>Filters &amp; Entry Points: </a:t>
            </a:r>
            <a:endParaRPr lang="en-IN" sz="1400" dirty="0"/>
          </a:p>
          <a:p>
            <a:r>
              <a:rPr lang="en-IN" sz="1600" dirty="0" err="1"/>
              <a:t>JwtAuthenticationFilter</a:t>
            </a:r>
            <a:r>
              <a:rPr lang="en-IN" sz="1600" dirty="0"/>
              <a:t> → extracts/validates tokens.</a:t>
            </a:r>
            <a:endParaRPr lang="en-IN" sz="1400" dirty="0"/>
          </a:p>
          <a:p>
            <a:r>
              <a:rPr lang="en-IN" sz="1600" dirty="0" err="1"/>
              <a:t>JwtAuthenticationEntryPoint</a:t>
            </a:r>
            <a:r>
              <a:rPr lang="en-IN" sz="1600" dirty="0"/>
              <a:t> → handles unauthorized access</a:t>
            </a:r>
            <a:r>
              <a:rPr lang="en-IN" sz="1600" b="1" dirty="0"/>
              <a:t>.</a:t>
            </a:r>
            <a:endParaRPr lang="en-IN" sz="1400" dirty="0"/>
          </a:p>
          <a:p>
            <a:pPr marL="0" indent="0">
              <a:buNone/>
            </a:pPr>
            <a:r>
              <a:rPr lang="en-IN" sz="1600" b="1" dirty="0"/>
              <a:t>Role-Based Access Control: </a:t>
            </a:r>
            <a:endParaRPr lang="en-IN" sz="1400" dirty="0"/>
          </a:p>
          <a:p>
            <a:r>
              <a:rPr lang="en-IN" sz="1600" dirty="0"/>
              <a:t>USER → manage own warranties, view products, create alerts.</a:t>
            </a:r>
            <a:endParaRPr lang="en-IN" sz="1400" dirty="0"/>
          </a:p>
          <a:p>
            <a:r>
              <a:rPr lang="en-IN" sz="1600" dirty="0"/>
              <a:t>ADMIN → full management access across users, products, warranties, alerts</a:t>
            </a:r>
            <a:r>
              <a:rPr lang="en-IN" sz="1600" b="1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8532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6EA96D-3B05-B2D6-48C6-22B87EC2ADB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5881" b="45881"/>
          <a:stretch/>
        </p:blipFill>
        <p:spPr/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313D667-88A3-0A86-D729-A8D5EBCDF6D3}"/>
              </a:ext>
            </a:extLst>
          </p:cNvPr>
          <p:cNvSpPr txBox="1">
            <a:spLocks/>
          </p:cNvSpPr>
          <p:nvPr/>
        </p:nvSpPr>
        <p:spPr>
          <a:xfrm>
            <a:off x="6477000" y="990600"/>
            <a:ext cx="4023360" cy="76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600" dirty="0"/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7E86831-D6D1-14AF-3B2D-D9FD9C27837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73646924"/>
              </p:ext>
            </p:extLst>
          </p:nvPr>
        </p:nvGraphicFramePr>
        <p:xfrm>
          <a:off x="381000" y="1066798"/>
          <a:ext cx="5867400" cy="5440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705788757"/>
                    </a:ext>
                  </a:extLst>
                </a:gridCol>
              </a:tblGrid>
              <a:tr h="10881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500" b="1" dirty="0"/>
                        <a:t>Outcomes Achieved</a:t>
                      </a:r>
                      <a:endParaRPr lang="en-IN" sz="3500" dirty="0"/>
                    </a:p>
                  </a:txBody>
                  <a:tcPr marL="84709" marR="84709" marT="42354" marB="4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882331"/>
                  </a:ext>
                </a:extLst>
              </a:tr>
              <a:tr h="108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Developed a secure and scalable backend system</a:t>
                      </a:r>
                    </a:p>
                  </a:txBody>
                  <a:tcPr marL="84709" marR="84709" marT="42354" marB="4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413919"/>
                  </a:ext>
                </a:extLst>
              </a:tr>
              <a:tr h="108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Achieved modular architecture with clean separation of concerns</a:t>
                      </a:r>
                    </a:p>
                  </a:txBody>
                  <a:tcPr marL="84709" marR="84709" marT="42354" marB="4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066288"/>
                  </a:ext>
                </a:extLst>
              </a:tr>
              <a:tr h="108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Implemented JWT‑secured APIs with role-based access control</a:t>
                      </a:r>
                    </a:p>
                  </a:txBody>
                  <a:tcPr marL="84709" marR="84709" marT="42354" marB="4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449863"/>
                  </a:ext>
                </a:extLst>
              </a:tr>
              <a:tr h="1088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Improved maintainability, reliability, and developer experience</a:t>
                      </a:r>
                    </a:p>
                  </a:txBody>
                  <a:tcPr marL="84709" marR="84709" marT="42354" marB="4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63999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53F5FD-4958-635D-6F70-0D8BCF264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44579"/>
              </p:ext>
            </p:extLst>
          </p:nvPr>
        </p:nvGraphicFramePr>
        <p:xfrm>
          <a:off x="6248400" y="1066798"/>
          <a:ext cx="5562600" cy="545044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949608787"/>
                    </a:ext>
                  </a:extLst>
                </a:gridCol>
              </a:tblGrid>
              <a:tr h="10941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500" b="1" dirty="0"/>
                        <a:t>Problems Solved</a:t>
                      </a:r>
                      <a:endParaRPr lang="en-IN" sz="3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341687"/>
                  </a:ext>
                </a:extLst>
              </a:tr>
              <a:tr h="1108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Eliminated tightly coupled code by enforcing layered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702264"/>
                  </a:ext>
                </a:extLst>
              </a:tr>
              <a:tr h="1006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Prevented unauthorized access using JWT and Spring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649816"/>
                  </a:ext>
                </a:extLst>
              </a:tr>
              <a:tr h="1006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/>
                        <a:t>Standardized API </a:t>
                      </a:r>
                      <a:r>
                        <a:rPr lang="en-IN" sz="2500" dirty="0" err="1"/>
                        <a:t>behavior</a:t>
                      </a:r>
                      <a:r>
                        <a:rPr lang="en-IN" sz="2500" dirty="0"/>
                        <a:t> with uniform error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710916"/>
                  </a:ext>
                </a:extLst>
              </a:tr>
              <a:tr h="1224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Enhanced robustness of backend logic through validations and centralized exception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24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3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2B01-49AA-33BB-6966-67195601D6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760220"/>
            <a:ext cx="5471160" cy="2057400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b="1" dirty="0"/>
              <a:t>Frontend Integration</a:t>
            </a:r>
          </a:p>
          <a:p>
            <a:pPr marL="0" indent="0" algn="just">
              <a:buNone/>
            </a:pPr>
            <a:r>
              <a:rPr lang="en-IN" dirty="0"/>
              <a:t>	Develop a responsive, user‑friendly interface (React/Angular) for warranty registration, product management, and alert tracking. This will make the system accessible to non‑technical users and improve overall usability.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73916-E7C5-779C-9640-70F609E2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38200"/>
            <a:ext cx="10805160" cy="838200"/>
          </a:xfrm>
        </p:spPr>
        <p:txBody>
          <a:bodyPr>
            <a:noAutofit/>
          </a:bodyPr>
          <a:lstStyle/>
          <a:p>
            <a:r>
              <a:rPr lang="en-IN" sz="5000" b="1" dirty="0"/>
              <a:t>Future Enhancements</a:t>
            </a:r>
            <a:endParaRPr lang="en-IN" sz="5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62A85DD-596A-5ACF-6EA2-49C7A6C5656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7192" b="47192"/>
          <a:stretch>
            <a:fillRect/>
          </a:stretch>
        </p:blipFill>
        <p:spPr/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D14A83-4F1E-FC91-DCC4-97BB5FE3E5B6}"/>
              </a:ext>
            </a:extLst>
          </p:cNvPr>
          <p:cNvSpPr txBox="1">
            <a:spLocks/>
          </p:cNvSpPr>
          <p:nvPr/>
        </p:nvSpPr>
        <p:spPr>
          <a:xfrm>
            <a:off x="554990" y="3962400"/>
            <a:ext cx="5471160" cy="2057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b="1" dirty="0"/>
              <a:t>Advanced Filtering &amp; Caching</a:t>
            </a:r>
            <a:br>
              <a:rPr lang="en-IN" b="1" dirty="0"/>
            </a:br>
            <a:r>
              <a:rPr lang="en-IN" b="1" dirty="0"/>
              <a:t>	</a:t>
            </a:r>
            <a:r>
              <a:rPr lang="en-IN" dirty="0"/>
              <a:t>Implement dynamic filtering (by product, expiry date, user) and caching mechanisms (Redis/Guava) to reduce database load and improve response times for frequently accessed data.</a:t>
            </a:r>
          </a:p>
          <a:p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B09BA9-3878-4C71-25F8-64858EFA6E85}"/>
              </a:ext>
            </a:extLst>
          </p:cNvPr>
          <p:cNvSpPr txBox="1">
            <a:spLocks/>
          </p:cNvSpPr>
          <p:nvPr/>
        </p:nvSpPr>
        <p:spPr>
          <a:xfrm>
            <a:off x="6096000" y="3949700"/>
            <a:ext cx="5638800" cy="2057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Enhanced Monitoring</a:t>
            </a:r>
            <a:br>
              <a:rPr lang="en-IN" b="1" dirty="0"/>
            </a:br>
            <a:r>
              <a:rPr lang="en-IN" b="1" dirty="0"/>
              <a:t>	</a:t>
            </a:r>
            <a:r>
              <a:rPr lang="en-IN" dirty="0"/>
              <a:t>Integrate monitoring tools (Spring Boot Actuator, Prometheus, Grafana) with centralized logging and alerting. This ensures production readiness by detecting anomalies early and improving system reliability.</a:t>
            </a:r>
          </a:p>
          <a:p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653F7E-9A2B-2229-0CBF-19B79077834E}"/>
              </a:ext>
            </a:extLst>
          </p:cNvPr>
          <p:cNvSpPr txBox="1">
            <a:spLocks/>
          </p:cNvSpPr>
          <p:nvPr/>
        </p:nvSpPr>
        <p:spPr>
          <a:xfrm>
            <a:off x="6096000" y="1760220"/>
            <a:ext cx="5638800" cy="2057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Cloud Deployment</a:t>
            </a:r>
          </a:p>
          <a:p>
            <a:pPr marL="0" indent="0" algn="just">
              <a:buNone/>
            </a:pPr>
            <a:r>
              <a:rPr lang="en-IN" b="1" dirty="0"/>
              <a:t>	</a:t>
            </a:r>
            <a:r>
              <a:rPr lang="en-IN" dirty="0"/>
              <a:t>Deploy the backend on platforms like AWS, Azure, or GCP to ensure scalability, high availability, and disaster recovery. Cloud hosting will also enable auto‑scaling and load balancing for peak usage</a:t>
            </a:r>
          </a:p>
        </p:txBody>
      </p:sp>
    </p:spTree>
    <p:extLst>
      <p:ext uri="{BB962C8B-B14F-4D97-AF65-F5344CB8AC3E}">
        <p14:creationId xmlns:p14="http://schemas.microsoft.com/office/powerpoint/2010/main" val="290525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AAA1-2955-C834-AA66-5B043C96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914400"/>
          </a:xfrm>
        </p:spPr>
        <p:txBody>
          <a:bodyPr>
            <a:noAutofit/>
          </a:bodyPr>
          <a:lstStyle/>
          <a:p>
            <a:r>
              <a:rPr lang="en-US" sz="5000" b="1" dirty="0"/>
              <a:t>Conclusion</a:t>
            </a:r>
            <a:br>
              <a:rPr lang="en-US" sz="5000" b="1" dirty="0"/>
            </a:b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BFE9-11FE-A446-3173-6766428A58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107" y="1524000"/>
            <a:ext cx="10288693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	The </a:t>
            </a:r>
            <a:r>
              <a:rPr lang="en-US" sz="2200" b="1" dirty="0"/>
              <a:t>Digital Warranty Tracker Project</a:t>
            </a:r>
            <a:r>
              <a:rPr lang="en-US" sz="2200" dirty="0"/>
              <a:t> delivered a secure and scalable backend with a clean layered architecture. By integrating </a:t>
            </a:r>
            <a:r>
              <a:rPr lang="en-US" sz="2200" b="1" dirty="0"/>
              <a:t>Spring Boot, JPA/Hibernate, and RESTful APIs</a:t>
            </a:r>
            <a:r>
              <a:rPr lang="en-US" sz="2200" dirty="0"/>
              <a:t>, the system ensures efficient data management and standardized communication. </a:t>
            </a:r>
            <a:r>
              <a:rPr lang="en-US" sz="2200" b="1" dirty="0"/>
              <a:t>JWT authentication with RBAC</a:t>
            </a:r>
            <a:r>
              <a:rPr lang="en-US" sz="2200" dirty="0"/>
              <a:t> strengthens security, while centralized validation and exception handling improve reliability.</a:t>
            </a:r>
          </a:p>
          <a:p>
            <a:pPr marL="0" indent="0">
              <a:buNone/>
            </a:pPr>
            <a:r>
              <a:rPr lang="en-US" sz="2200" dirty="0"/>
              <a:t>	The project achieved its goals of modular design, maintainability, and developer usability, laying a strong foundation for future enhancements such as frontend integration, cloud deployment, and monitoring. Overall, it provides a practical and extensible solution for modern warranty management.</a:t>
            </a: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3B3E933-8907-F16A-52E5-748E1A6E663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45881" b="45881"/>
          <a:stretch/>
        </p:blipFill>
        <p:spPr/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8A3F9A-536A-FE73-BD12-BB4593CBA348}"/>
              </a:ext>
            </a:extLst>
          </p:cNvPr>
          <p:cNvSpPr/>
          <p:nvPr/>
        </p:nvSpPr>
        <p:spPr>
          <a:xfrm>
            <a:off x="762000" y="5410200"/>
            <a:ext cx="10210800" cy="11430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24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:blinds dir="vert"/>
      </p:transition>
    </mc:Choice>
    <mc:Fallback xmlns="">
      <p:transition spd="slow" advClick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www.w3.org/XML/1998/namespace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508</TotalTime>
  <Words>1179</Words>
  <Application>Microsoft Office PowerPoint</Application>
  <PresentationFormat>Widescreen</PresentationFormat>
  <Paragraphs>128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Digital Warranty Tracker </vt:lpstr>
      <vt:lpstr>Problem Statement </vt:lpstr>
      <vt:lpstr>Objectives</vt:lpstr>
      <vt:lpstr>TECHNOLOGY STACK</vt:lpstr>
      <vt:lpstr>System Analysis &amp; Design </vt:lpstr>
      <vt:lpstr>System Analysis &amp; Design </vt:lpstr>
      <vt:lpstr>Implementation</vt:lpstr>
      <vt:lpstr>Implementation</vt:lpstr>
      <vt:lpstr>PowerPoint Presentation</vt:lpstr>
      <vt:lpstr>Future Enhancements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 Anandan</dc:creator>
  <cp:lastModifiedBy>Manu Anandan</cp:lastModifiedBy>
  <cp:revision>6</cp:revision>
  <cp:lastPrinted>2025-12-30T04:17:01Z</cp:lastPrinted>
  <dcterms:created xsi:type="dcterms:W3CDTF">2025-12-28T19:29:39Z</dcterms:created>
  <dcterms:modified xsi:type="dcterms:W3CDTF">2025-12-30T04:29:38Z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